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2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2DCD2"/>
                </a:solidFill>
                <a:latin typeface="Aptos"/>
              </a:defRPr>
            </a:pPr>
            <a:r>
              <a:t>BEGINNER MACHINE LEARNING • CONTENT-BASED FILTERING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500" b="1">
                <a:solidFill>
                  <a:srgbClr val="F5F7FA"/>
                </a:solidFill>
                <a:latin typeface="Aptos"/>
              </a:defRPr>
            </a:pPr>
            <a:r>
              <a:t>Online Course</a:t>
            </a:r>
          </a:p>
          <a:p>
            <a:pPr>
              <a:spcAft>
                <a:spcPts val="900"/>
              </a:spcAft>
              <a:defRPr sz="3500" b="1">
                <a:solidFill>
                  <a:srgbClr val="F5F7FA"/>
                </a:solidFill>
                <a:latin typeface="Aptos"/>
              </a:defRPr>
            </a:pPr>
            <a:r>
              <a:t>Recommendation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B3C0D3"/>
                </a:solidFill>
                <a:latin typeface="Aptos"/>
              </a:defRPr>
            </a:pPr>
            <a:r>
              <a:t>Personalized course suggestions from learner interests, skills and completed subjects — with a clear reason for every recommendation.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983480"/>
            <a:ext cx="2926080" cy="91440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514807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2DCD2"/>
                </a:solidFill>
                <a:latin typeface="Aptos"/>
              </a:defRPr>
            </a:pPr>
            <a:r>
              <a:t>CORE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5605272"/>
            <a:ext cx="2523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TF-IDF + cosine similarity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4983480"/>
            <a:ext cx="2926080" cy="91440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78807" y="514807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C15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8807" y="5605272"/>
            <a:ext cx="2523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Interests • Skills • Completed subjects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4983480"/>
            <a:ext cx="2926080" cy="91440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33488" y="514807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5992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5605272"/>
            <a:ext cx="2523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Ranked courses + 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2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DCD2"/>
                </a:solidFill>
              </a:defRPr>
            </a:pPr>
            <a:r>
              <a:t>ONLINE COURSE RECOMMENDATION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The problem we are solving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3C0D3"/>
                </a:solidFill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329184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3026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2DCD2"/>
                </a:solidFill>
                <a:latin typeface="Aptos"/>
              </a:defRPr>
            </a:pPr>
            <a:r>
              <a:t>TOO MANY CHOICES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50592"/>
            <a:ext cx="3026664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Online platforms contain thousands of courses. Finding a useful next course can take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329184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993392"/>
            <a:ext cx="3026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C15C"/>
                </a:solidFill>
                <a:latin typeface="Aptos"/>
              </a:defRPr>
            </a:pPr>
            <a:r>
              <a:t>ONE-SIZE-FITS-ALL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450592"/>
            <a:ext cx="3026664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A popular course is not necessarily the right course for every learner.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29000" cy="329184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93392"/>
            <a:ext cx="3026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5992FF"/>
                </a:solidFill>
                <a:latin typeface="Aptos"/>
              </a:defRPr>
            </a:pPr>
            <a:r>
              <a:t>UNCLEAR REASONS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450592"/>
            <a:ext cx="3026664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Learners need to understand why a course matches their interests and skills.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235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B3C0D3"/>
                </a:solidFill>
                <a:latin typeface="Aptos"/>
              </a:defRPr>
            </a:pPr>
            <a:r>
              <a:t>Goal: reduce search effort and make the next learning step more relevant.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2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DCD2"/>
                </a:solidFill>
              </a:defRPr>
            </a:pPr>
            <a:r>
              <a:t>ONLINE COURSE RECOMMENDATION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3C0D3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5F7FA"/>
                </a:solidFill>
                <a:latin typeface="Aptos"/>
              </a:defRPr>
            </a:pPr>
            <a:r>
              <a:t>01   Collect learner interests, skills and completed subjects.</a:t>
            </a:r>
          </a:p>
          <a:p>
            <a:pPr>
              <a:spcAft>
                <a:spcPts val="900"/>
              </a:spcAft>
              <a:defRPr sz="1900" b="0">
                <a:solidFill>
                  <a:srgbClr val="F5F7FA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900" b="0">
                <a:solidFill>
                  <a:srgbClr val="F5F7FA"/>
                </a:solidFill>
                <a:latin typeface="Aptos"/>
              </a:defRPr>
            </a:pPr>
            <a:r>
              <a:t>02   Represent each course using its title, description and skills.</a:t>
            </a:r>
          </a:p>
          <a:p>
            <a:pPr>
              <a:spcAft>
                <a:spcPts val="900"/>
              </a:spcAft>
              <a:defRPr sz="1900" b="0">
                <a:solidFill>
                  <a:srgbClr val="F5F7FA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900" b="0">
                <a:solidFill>
                  <a:srgbClr val="F5F7FA"/>
                </a:solidFill>
                <a:latin typeface="Aptos"/>
              </a:defRPr>
            </a:pPr>
            <a:r>
              <a:t>03   Compare the learner profile with course content using TF-IDF and cosine similarity.</a:t>
            </a:r>
          </a:p>
          <a:p>
            <a:pPr>
              <a:spcAft>
                <a:spcPts val="900"/>
              </a:spcAft>
              <a:defRPr sz="1900" b="0">
                <a:solidFill>
                  <a:srgbClr val="F5F7FA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900" b="0">
                <a:solidFill>
                  <a:srgbClr val="F5F7FA"/>
                </a:solidFill>
                <a:latin typeface="Aptos"/>
              </a:defRPr>
            </a:pPr>
            <a:r>
              <a:t>04   Rank the best matching courses and explain the match in simple language.</a:t>
            </a:r>
          </a:p>
          <a:p>
            <a:pPr>
              <a:spcAft>
                <a:spcPts val="900"/>
              </a:spcAft>
              <a:defRPr sz="1900" b="0">
                <a:solidFill>
                  <a:srgbClr val="F5F7FA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900" b="0">
                <a:solidFill>
                  <a:srgbClr val="F5F7FA"/>
                </a:solidFill>
                <a:latin typeface="Aptos"/>
              </a:defRPr>
            </a:pPr>
            <a:r>
              <a:t>05   Provide a simple web interface for searching and exploring courses.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2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DCD2"/>
                </a:solidFill>
              </a:defRPr>
            </a:pPr>
            <a:r>
              <a:t>ONLINE COURSE RECOMMENDATION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How a learner uses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3C0D3"/>
                </a:solidFill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2057400" cy="219456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404872"/>
            <a:ext cx="1655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2DCD2"/>
                </a:solidFill>
                <a:latin typeface="Aptos"/>
              </a:defRPr>
            </a:pPr>
            <a:r>
              <a:t>1  Enter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862072"/>
            <a:ext cx="1655064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Interests +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880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B3C0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44368" y="2240280"/>
            <a:ext cx="2057400" cy="219456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5536" y="2404872"/>
            <a:ext cx="1655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C15C"/>
                </a:solidFill>
                <a:latin typeface="Aptos"/>
              </a:defRPr>
            </a:pPr>
            <a:r>
              <a:t>2  Choose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5536" y="2862072"/>
            <a:ext cx="1655064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Select learning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768" y="2880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B3C0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48656" y="2240280"/>
            <a:ext cx="2057400" cy="219456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9824" y="2404872"/>
            <a:ext cx="1655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5992FF"/>
                </a:solidFill>
                <a:latin typeface="Aptos"/>
              </a:defRPr>
            </a:pPr>
            <a:r>
              <a:t>3  Mark subjects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9824" y="2862072"/>
            <a:ext cx="1655064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Completed prerequisites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880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B3C0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52944" y="2240280"/>
            <a:ext cx="2057400" cy="219456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4112" y="2404872"/>
            <a:ext cx="1655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2DCD2"/>
                </a:solidFill>
                <a:latin typeface="Aptos"/>
              </a:defRPr>
            </a:pPr>
            <a:r>
              <a:t>4  Get matches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4112" y="2862072"/>
            <a:ext cx="1655064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Top ranked courses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0344" y="2880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B3C0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57232" y="2240280"/>
            <a:ext cx="2057400" cy="219456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2404872"/>
            <a:ext cx="1655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C15C"/>
                </a:solidFill>
                <a:latin typeface="Aptos"/>
              </a:defRPr>
            </a:pPr>
            <a:r>
              <a:t>5  Understand why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2862072"/>
            <a:ext cx="1655064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Short explanation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74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B3C0D3"/>
                </a:solidFill>
                <a:latin typeface="Aptos"/>
              </a:defRPr>
            </a:pPr>
            <a:r>
              <a:t>The learner stays in control: recommendations are suggestions, not mandatory course paths.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2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DCD2"/>
                </a:solidFill>
              </a:defRPr>
            </a:pPr>
            <a:r>
              <a:t>ONLINE COURSE RECOMMENDATION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Dataset and course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3C0D3"/>
                </a:solidFill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333756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4809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2DCD2"/>
                </a:solidFill>
                <a:latin typeface="Aptos"/>
              </a:defRPr>
            </a:pPr>
            <a:r>
              <a:t>FIELDS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50592"/>
            <a:ext cx="4809744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Course ID and title</a:t>
            </a:r>
          </a:p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Description / summary</a:t>
            </a:r>
          </a:p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Skills and topics covered</a:t>
            </a:r>
          </a:p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Year or learning level</a:t>
            </a:r>
          </a:p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Prerequisite course IDs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212080" cy="333756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993392"/>
            <a:ext cx="4809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C15C"/>
                </a:solidFill>
                <a:latin typeface="Aptos"/>
              </a:defRPr>
            </a:pPr>
            <a:r>
              <a:t>DATASET NOTE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450592"/>
            <a:ext cx="4809744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The attached demo currently contains 200 curated sample course records (50 per year). It is not a downloaded Kaggle dataset. For a dataset-specific submission, import a Coursera/Udemy Kaggle CSV and map its columns to these fields.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778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3C0D3"/>
                </a:solidFill>
                <a:latin typeface="Aptos"/>
              </a:defRPr>
            </a:pPr>
            <a:r>
              <a:t>Good data quality matters: duplicate, missing and inconsistent course descriptions reduce recommendation quality.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2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DCD2"/>
                </a:solidFill>
              </a:defRPr>
            </a:pPr>
            <a:r>
              <a:t>ONLINE COURSE RECOMMENDATION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3C0D3"/>
                </a:solidFill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2926080" cy="224028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31343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2DCD2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770632"/>
            <a:ext cx="2523744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HTML + CSS + JavaScript</a:t>
            </a:r>
          </a:p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Profile, year selector, course cards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2148840"/>
            <a:ext cx="2926080" cy="224028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231343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C15C"/>
                </a:solidFill>
                <a:latin typeface="Aptos"/>
              </a:defRPr>
            </a:pPr>
            <a:r>
              <a:t>Flask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2770632"/>
            <a:ext cx="2523744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Receives learner inputs</a:t>
            </a:r>
          </a:p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Validates year and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2148840"/>
            <a:ext cx="2926080" cy="224028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53528" y="231343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5992FF"/>
                </a:solidFill>
                <a:latin typeface="Aptos"/>
              </a:defRPr>
            </a:pPr>
            <a:r>
              <a:t>Recommendation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3528" y="2770632"/>
            <a:ext cx="2523744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TF-IDF vectors</a:t>
            </a:r>
          </a:p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Cosine similarity + ranking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9718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B3C0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9718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B3C0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4800600"/>
            <a:ext cx="6400800" cy="91440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4965192"/>
            <a:ext cx="5998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2DCD2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5422392"/>
            <a:ext cx="59984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Top recommendations + match score + “Why this course?” explanation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5262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B3C0D3"/>
                </a:solidFill>
                <a:latin typeface="Aptos"/>
              </a:defRPr>
            </a:pPr>
            <a:r>
              <a:t>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2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DCD2"/>
                </a:solidFill>
              </a:defRPr>
            </a:pPr>
            <a:r>
              <a:t>ONLINE COURSE RECOMMENDATION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Technique 1 — TF-IDF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3C0D3"/>
                </a:solidFill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47472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4718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2DCD2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50592"/>
            <a:ext cx="4718303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TF (Term Frequency): how often a term appears in a course.</a:t>
            </a:r>
          </a:p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IDF (Inverse Document Frequency): gives less weight to words common across many courses and more weight to distinctive terms.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257800" cy="347472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993392"/>
            <a:ext cx="4855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C15C"/>
                </a:solidFill>
                <a:latin typeface="Aptos"/>
              </a:defRPr>
            </a:pPr>
            <a:r>
              <a:t>WHY IT HELPS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450592"/>
            <a:ext cx="4855464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“Python”, “machine learning” or “data visualization” can carry useful meaning. TF-IDF converts text into weighted numeric vectors so the system can compare course content with the learner profile.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3C0D3"/>
                </a:solidFill>
                <a:latin typeface="Aptos"/>
              </a:defRPr>
            </a:pPr>
            <a:r>
              <a:t>In this implementation, scikit-learn’s TfidfVectorizer processes titles, descriptions and skills.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2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DCD2"/>
                </a:solidFill>
              </a:defRPr>
            </a:pPr>
            <a:r>
              <a:t>ONLINE COURSE RECOMMENDATION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Technique 2 — cosine similarity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3C0D3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5F7FA"/>
                </a:solidFill>
                <a:latin typeface="Aptos"/>
              </a:defRPr>
            </a:pPr>
            <a:r>
              <a:t>Cosine similarity compares the direction of two text vectors. A higher score means the course text is more similar to the learner profile.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29000"/>
            <a:ext cx="4754880" cy="155448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3593592"/>
            <a:ext cx="43525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2DCD2"/>
                </a:solidFill>
                <a:latin typeface="Aptos"/>
              </a:defRPr>
            </a:pPr>
            <a:r>
              <a:t>LEARNER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4050791"/>
            <a:ext cx="435254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“Python, AI, data science, build projects”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429000"/>
            <a:ext cx="4754880" cy="155448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3593592"/>
            <a:ext cx="43525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C15C"/>
                </a:solidFill>
                <a:latin typeface="Aptos"/>
              </a:defRPr>
            </a:pPr>
            <a:r>
              <a:t>COURSE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4050791"/>
            <a:ext cx="435254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“Python programming, machine learning, model building”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B3C0D3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B3C0D3"/>
                </a:solidFill>
                <a:latin typeface="Aptos"/>
              </a:defRPr>
            </a:pPr>
            <a:r>
              <a:t>The system sorts courses by match score and returns the highest-ranked 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2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DCD2"/>
                </a:solidFill>
              </a:defRPr>
            </a:pPr>
            <a:r>
              <a:t>ONLINE COURSE RECOMMENDATION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Completed subjects and prerequisites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3C0D3"/>
                </a:solidFill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66360" cy="333756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4764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2DCD2"/>
                </a:solidFill>
                <a:latin typeface="Aptos"/>
              </a:defRPr>
            </a:pPr>
            <a:r>
              <a:t>LEARNER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50592"/>
            <a:ext cx="4764024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When a learner selects Year 2, 3 or 4, the interface asks which previous-year courses they completed. These selections are sent to the backend as course IDs.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66360" cy="333756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993392"/>
            <a:ext cx="4764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C15C"/>
                </a:solidFill>
                <a:latin typeface="Aptos"/>
              </a:defRPr>
            </a:pPr>
            <a:r>
              <a:t>HOW IT AFFECTS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450592"/>
            <a:ext cx="4764024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Completed subjects become part of the learner profile. The system can also apply a small ranking bonus when a course’s listed prerequisites are completed and show any missing prerequisites.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3C0D3"/>
                </a:solidFill>
                <a:latin typeface="Aptos"/>
              </a:defRPr>
            </a:pPr>
            <a:r>
              <a:t>Prerequisite selection helps personalize the suggestions; it is not an official academic eligibility decision.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2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DCD2"/>
                </a:solidFill>
              </a:defRPr>
            </a:pPr>
            <a:r>
              <a:t>ONLINE COURSE RECOMMENDATION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Why each course is recommended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3C0D3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4846320" cy="320040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993392"/>
            <a:ext cx="44439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2DCD2"/>
                </a:solidFill>
                <a:latin typeface="Aptos"/>
              </a:defRPr>
            </a:pPr>
            <a:r>
              <a:t>EXAMPLE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450592"/>
            <a:ext cx="4443983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Introduction to Machine Learning</a:t>
            </a:r>
          </a:p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Skills: Python, statistics, model training</a:t>
            </a:r>
          </a:p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Match score: 82%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828800"/>
            <a:ext cx="5212080" cy="320040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1993392"/>
            <a:ext cx="4809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C15C"/>
                </a:solidFill>
                <a:latin typeface="Aptos"/>
              </a:defRPr>
            </a:pPr>
            <a:r>
              <a:t>EXPLANATION SHOWN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1928" y="2450592"/>
            <a:ext cx="4809744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“Recommended because it matches your interests/skills in: machine learning, Python, statistics.”</a:t>
            </a:r>
          </a:p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This makes the recommendation more understandable than showing a score alone.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3C0D3"/>
                </a:solidFill>
                <a:latin typeface="Aptos"/>
              </a:defRPr>
            </a:pPr>
            <a:r>
              <a:t>The explanation is a lightweight term-match explanation, not a complex natural-language AI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2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DCD2"/>
                </a:solidFill>
              </a:defRPr>
            </a:pPr>
            <a:r>
              <a:t>ONLINE COURSE RECOMMENDATION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Implementation and DSA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3C0D3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338328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3026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2DCD2"/>
                </a:solidFill>
                <a:latin typeface="Aptos"/>
              </a:defRPr>
            </a:pPr>
            <a:r>
              <a:t>WEB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50592"/>
            <a:ext cx="3026664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Python + Flask</a:t>
            </a:r>
          </a:p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HTML / CSS / JavaScript</a:t>
            </a:r>
          </a:p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JSON course catalogue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338328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993392"/>
            <a:ext cx="3026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C15C"/>
                </a:solidFill>
                <a:latin typeface="Aptos"/>
              </a:defRPr>
            </a:pPr>
            <a:r>
              <a:t>ML 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450592"/>
            <a:ext cx="3026664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TF-IDF vectorization</a:t>
            </a:r>
          </a:p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Cosine similarity</a:t>
            </a:r>
          </a:p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Ranking by match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29000" cy="338328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93392"/>
            <a:ext cx="3026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5992FF"/>
                </a:solidFill>
                <a:latin typeface="Aptos"/>
              </a:defRPr>
            </a:pPr>
            <a:r>
              <a:t>DSA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450592"/>
            <a:ext cx="3026664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Heap for top-ranked results</a:t>
            </a:r>
          </a:p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Trie for title autocomplete</a:t>
            </a:r>
          </a:p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KMP-style text search</a:t>
            </a:r>
          </a:p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Graph traversal for study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235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B3C0D3"/>
                </a:solidFill>
                <a:latin typeface="Aptos"/>
              </a:defRPr>
            </a:pPr>
            <a:r>
              <a:t>The recommendation method is content-based: it does not need ratings from other learners.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2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DCD2"/>
                </a:solidFill>
              </a:defRPr>
            </a:pPr>
            <a:r>
              <a:t>ONLINE COURSE RECOMMENDATION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Limitations and future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3C0D3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5F7FA"/>
                </a:solidFill>
                <a:latin typeface="Aptos"/>
              </a:defRPr>
            </a:pPr>
            <a:r>
              <a:t>CURRENT LIMITATIONS</a:t>
            </a:r>
          </a:p>
          <a:p>
            <a:pPr>
              <a:spcAft>
                <a:spcPts val="900"/>
              </a:spcAft>
              <a:defRPr sz="1700" b="0">
                <a:solidFill>
                  <a:srgbClr val="F5F7FA"/>
                </a:solidFill>
                <a:latin typeface="Aptos"/>
              </a:defRPr>
            </a:pPr>
            <a:r>
              <a:t>• Demo records are curated sample data, not a verified Kaggle import.</a:t>
            </a:r>
          </a:p>
          <a:p>
            <a:pPr>
              <a:spcAft>
                <a:spcPts val="900"/>
              </a:spcAft>
              <a:defRPr sz="1700" b="0">
                <a:solidFill>
                  <a:srgbClr val="F5F7FA"/>
                </a:solidFill>
                <a:latin typeface="Aptos"/>
              </a:defRPr>
            </a:pPr>
            <a:r>
              <a:t>• Text overlap can miss meaning when learners use different words.</a:t>
            </a:r>
          </a:p>
          <a:p>
            <a:pPr>
              <a:spcAft>
                <a:spcPts val="900"/>
              </a:spcAft>
              <a:defRPr sz="1700" b="0">
                <a:solidFill>
                  <a:srgbClr val="F5F7FA"/>
                </a:solidFill>
                <a:latin typeface="Aptos"/>
              </a:defRPr>
            </a:pPr>
            <a:r>
              <a:t>• Match scores indicate text similarity, not course quality or job outcomes.</a:t>
            </a:r>
          </a:p>
          <a:p>
            <a:pPr>
              <a:spcAft>
                <a:spcPts val="900"/>
              </a:spcAft>
              <a:defRPr sz="1700" b="0">
                <a:solidFill>
                  <a:srgbClr val="F5F7FA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F5F7FA"/>
                </a:solidFill>
                <a:latin typeface="Aptos"/>
              </a:defRPr>
            </a:pPr>
            <a:r>
              <a:t>NEXT IMPROVEMENTS</a:t>
            </a:r>
          </a:p>
          <a:p>
            <a:pPr>
              <a:spcAft>
                <a:spcPts val="900"/>
              </a:spcAft>
              <a:defRPr sz="1700" b="0">
                <a:solidFill>
                  <a:srgbClr val="F5F7FA"/>
                </a:solidFill>
                <a:latin typeface="Aptos"/>
              </a:defRPr>
            </a:pPr>
            <a:r>
              <a:t>• Import and clean a real Coursera/Udemy Kaggle dataset.</a:t>
            </a:r>
          </a:p>
          <a:p>
            <a:pPr>
              <a:spcAft>
                <a:spcPts val="900"/>
              </a:spcAft>
              <a:defRPr sz="1700" b="0">
                <a:solidFill>
                  <a:srgbClr val="F5F7FA"/>
                </a:solidFill>
                <a:latin typeface="Aptos"/>
              </a:defRPr>
            </a:pPr>
            <a:r>
              <a:t>• Add course URL, platform, rating, duration, price and difficulty.</a:t>
            </a:r>
          </a:p>
          <a:p>
            <a:pPr>
              <a:spcAft>
                <a:spcPts val="900"/>
              </a:spcAft>
              <a:defRPr sz="1700" b="0">
                <a:solidFill>
                  <a:srgbClr val="F5F7FA"/>
                </a:solidFill>
                <a:latin typeface="Aptos"/>
              </a:defRPr>
            </a:pPr>
            <a:r>
              <a:t>• Add filters and save learner history.</a:t>
            </a:r>
          </a:p>
          <a:p>
            <a:pPr>
              <a:spcAft>
                <a:spcPts val="900"/>
              </a:spcAft>
              <a:defRPr sz="1700" b="0">
                <a:solidFill>
                  <a:srgbClr val="F5F7FA"/>
                </a:solidFill>
                <a:latin typeface="Aptos"/>
              </a:defRPr>
            </a:pPr>
            <a:r>
              <a:t>• Evaluate recommendations with sample learner profiles and feedback.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2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DCD2"/>
                </a:solidFill>
              </a:defRPr>
            </a:pPr>
            <a:r>
              <a:t>ONLINE COURSE RECOMMENDATION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3C0D3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42DCD2"/>
                </a:solidFill>
                <a:latin typeface="Aptos"/>
              </a:defRPr>
            </a:pPr>
            <a:r>
              <a:t>A simple, explainable way to connect a learner’s goals with relevant online courses.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383280"/>
            <a:ext cx="3017520" cy="155448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3547872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2DCD2"/>
                </a:solidFill>
                <a:latin typeface="Aptos"/>
              </a:defRPr>
            </a:pPr>
            <a:r>
              <a:t>PERSONALIZED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4005072"/>
            <a:ext cx="261518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Uses interests, skills and completed subjects.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3383280"/>
            <a:ext cx="3017520" cy="155448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3547872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C15C"/>
                </a:solidFill>
                <a:latin typeface="Aptos"/>
              </a:defRPr>
            </a:pPr>
            <a:r>
              <a:t>CONTENT-BASED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4005072"/>
            <a:ext cx="261518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Compares course descriptions using TF-IDF and cosine similarity.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383280"/>
            <a:ext cx="3017520" cy="1554480"/>
          </a:xfrm>
          <a:prstGeom prst="roundRect">
            <a:avLst/>
          </a:prstGeom>
          <a:solidFill>
            <a:srgbClr val="182338"/>
          </a:solidFill>
          <a:ln>
            <a:solidFill>
              <a:srgbClr val="30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3547872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5992FF"/>
                </a:solidFill>
                <a:latin typeface="Aptos"/>
              </a:defRPr>
            </a:pPr>
            <a:r>
              <a:t>EXPLAINABLE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4005072"/>
            <a:ext cx="261518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5F7FA"/>
                </a:solidFill>
                <a:latin typeface="Aptos"/>
              </a:defRPr>
            </a:pPr>
            <a:r>
              <a:t>Shows a score and a short reason for each match.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623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B3C0D3"/>
                </a:solidFill>
                <a:latin typeface="Aptos"/>
              </a:defRPr>
            </a:pPr>
            <a:r>
              <a:t>Thank you •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